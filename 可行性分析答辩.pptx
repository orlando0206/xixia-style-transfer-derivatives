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71" r:id="rId20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经费预算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A63A2A"/>
              </a:solidFill>
              <a:effectLst/>
            </c:spPr>
          </c:dPt>
          <c:dPt>
            <c:idx val="1"/>
            <c:bubble3D val="0"/>
            <c:spPr>
              <a:solidFill>
                <a:srgbClr val="B8862F"/>
              </a:solidFill>
              <a:effectLst/>
            </c:spPr>
          </c:dPt>
          <c:dPt>
            <c:idx val="2"/>
            <c:bubble3D val="0"/>
            <c:spPr>
              <a:solidFill>
                <a:srgbClr val="7A5C3E"/>
              </a:solidFill>
              <a:effectLst/>
            </c:spPr>
          </c:dPt>
          <c:dPt>
            <c:idx val="3"/>
            <c:bubble3D val="0"/>
            <c:spPr>
              <a:solidFill>
                <a:srgbClr val="4F6B5C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950" b="0" i="0" u="none" strike="noStrike" kern="1200" baseline="0">
                      <a:solidFill>
                        <a:srgbClr val="F2E8D5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950" b="0" i="0" u="none" strike="noStrike" kern="1200" baseline="0">
                      <a:solidFill>
                        <a:srgbClr val="F2E8D5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950" b="0" i="0" u="none" strike="noStrike" kern="1200" baseline="0">
                      <a:solidFill>
                        <a:srgbClr val="F2E8D5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950" b="0" i="0" u="none" strike="noStrike" kern="1200" baseline="0">
                      <a:solidFill>
                        <a:srgbClr val="F2E8D5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设备与材料 ¥5900</c:v>
                </c:pt>
                <c:pt idx="1">
                  <c:v>调研与实践 ¥2600</c:v>
                </c:pt>
                <c:pt idx="2">
                  <c:v>基础运营 ¥1000</c:v>
                </c:pt>
                <c:pt idx="3">
                  <c:v>应急备用 ¥500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5900</c:v>
                </c:pt>
                <c:pt idx="1">
                  <c:v>2600</c:v>
                </c:pt>
                <c:pt idx="2">
                  <c:v>1000</c:v>
                </c:pt>
                <c:pt idx="3">
                  <c:v>500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rgbClr val="2E2118"/>
              </a:solidFill>
              <a:latin typeface="微软雅黑" panose="020B0503020204020204" pitchFamily="34" charset="-122"/>
              <a:ea typeface="+mn-ea"/>
              <a:cs typeface="微软雅黑" panose="020B0503020204020204" pitchFamily="34" charset="-122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6892ccb-0da7-45bd-8801-2fff03185bf6}"/>
      </c:ext>
    </c:extLst>
  </c:chart>
  <c:spPr>
    <a:solidFill>
      <a:srgbClr val="F5EDDD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是林奕淞。今天汇报的项目是《基于风格迁移的西夏文化衍生品开发系统》，软件名为「塞上密卷」。下面用五分钟时间，从项目简介、社会可行性、技术可行性、经济可行性和未来计划五个方面进行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分为五个部分：第一部分项目简介，介绍系统功能、软件与衍生品展示和创新点；第二部分社会可行性，基于谷子经济和宁夏近五年文旅数据建模分析；第三部分技术可行性；第四部分经济可行性；最后是未来计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名为塞上密卷，采用侧边栏导航组织五大功能页：创作工作台提供一键西夏风格迁移和壁画修补；文创工坊生成五类文创产品；西夏知库结合Coze智能体答疑；交流论坛承载作品分享；我的记录负责结果归档。下方是系统的整体使用流程，从登录到本地归档形成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软件的真实运行界面。整体采用QSS定制的深色古卷风格，契合西夏文化审美；左侧是登录注册界面，右侧是创作工作台，上传图片后一键即可完成风格迁移，支持原图与结果一键切换对比、结果下载。软件可打包为独立exe，双击即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效果方面：左上是头像的西夏风格迁移对比，迁移后呈现壁画特有的赭石、朱砂红色调与斑驳质感；右上是西夏女供养人像的真实破损修补；下方是古画修复链路，先修补破损，再叠加西夏暖色调上色，让褪色古画重现温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衍生品方面，系统将迁移后的纹样合成到多种载体：左侧是西夏服饰纹样的数字化设计，标注了窄袖圆领袍、皮毛边衣等典型形制；右侧是帆布包、T恤、束口袋、明信片四类文创产品设计规范，形成完整的西夏纹样文创矩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会可行性方面：谷子经济持续盛行，年轻人愿意为文化IP买单，西夏纹样衍生品正好契合这一场景；政策上国家文化数字化战略明确支持。数据上，宁夏近五年国内游客量年均复合增长率24.06%，旅游收入增速更高达40.08%，文旅消费处于快速上升通道，社会需求明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进一步用数据说话：以年份为自变量、游客量为因变量建立一元线性回归，拟合方程为 y 等于 2658.23 加 1277.24t，R方达到0.851。外推预测2025到2027年游客量将从9044万人次增长到1.16亿人次，旅游收入从891亿元增长到1191亿元，并设定保守、中性、乐观三种情景。市场增量明确。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技术可行性：系统基于Python 3.10与PySide6构建桌面端，OpenCV与NumPy完成图像处理，SQLite零配置持久化，Coze平台提供智能问答——全部为成熟开源技术。架构上分为表现层、业务逻辑层、算法层、数据层四层，模块解耦、易于维护。性能上风格迁移5秒内、壁画修补10秒内可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层面，四个核心算法均已实现并验证：Reinhard色彩迁移输出壁画色调、纹理注入模拟笔触颗粒、Telea快速行进法修补破损、CLAHE恢复对比度并做古旧化。更重要的是，团队前期已获得《基于图像处理的西夏壁画渲染系统》软件著作权，技术链路完整跑通。下方是Coze智能体工作流，通过意图识别和知识库检索降低调用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经济可行性：项目总预算一万元。其中设备与材料费5900元，占大头，主要用于开发工具、服务器与API调用、T4 GPU云资源租赁；调研与实践费2600元；基础运营1000元；应急备用500元。由于系统采用开源技术栈、纯CPU离线运行，后续没有持续的算力与授权成本，经济上完全可行。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是未来计划。项目总体周期8周，分五个阶段推进：前两周需求调研与原型设计，第3到5周完成核心算法开发，第4到6周完成文创工坊，第5到6周完成知库与论坛，最后两周系统集成、测试与文档撰写。目标是形成可运行、可演示、可交付的桌面软件，完成结题并申请相关论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以上就是本项目的全部汇报内容。我们相信，塞上密卷能够让沉睡的西夏文化在数字时代焕发新生。恳请各位老师批评指正，谢谢！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解释一下什么是风格迁移。风格迁移就是风格图加内容图：内容图是这张大笑，决定画面里有什么、姿态怎么摆；风格图是奶龙，决定用什么颜色、什么质感和笔触来画。两者结合，生成的结果就是大笑奶龙——保留了大笑的形态，换上了奶龙的色彩与质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56032" y="256032"/>
            <a:ext cx="8631936" cy="4626864"/>
          </a:xfrm>
          <a:prstGeom prst="rect">
            <a:avLst/>
          </a:prstGeom>
          <a:ln w="19050">
            <a:solidFill>
              <a:srgbClr val="C9A05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47472" y="347472"/>
            <a:ext cx="8449056" cy="4443984"/>
          </a:xfrm>
          <a:prstGeom prst="rect">
            <a:avLst/>
          </a:prstGeom>
          <a:ln w="9525">
            <a:solidFill>
              <a:srgbClr val="7A5C3E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371600" y="713232"/>
            <a:ext cx="640080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C9A0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宁夏大学 · 大学生创新创业训练计划项目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371600"/>
            <a:ext cx="7680960" cy="1600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kern="0" spc="250" dirty="0">
                <a:solidFill>
                  <a:srgbClr val="F2E8D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基于风格迁移的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kern="0" spc="250" dirty="0">
                <a:solidFill>
                  <a:srgbClr val="F2E8D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西夏文化衍生品开发系统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kern="0" spc="100" dirty="0">
                <a:solidFill>
                  <a:srgbClr val="C9A0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—— 「塞上密卷」 一眼千年 · 西夏遗韵 ——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2700000">
            <a:off x="4407408" y="3675888"/>
            <a:ext cx="109728" cy="10972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 rot="2700000">
            <a:off x="4626864" y="3675888"/>
            <a:ext cx="109728" cy="109728"/>
          </a:xfrm>
          <a:prstGeom prst="rect">
            <a:avLst/>
          </a:prstGeom>
          <a:solidFill>
            <a:srgbClr val="C9A05C"/>
          </a:solidFill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rot="2700000">
            <a:off x="4846320" y="3675888"/>
            <a:ext cx="109728" cy="10972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71600" y="4041648"/>
            <a:ext cx="640080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2E8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汇报人：林奕淞        指导教师：马子睿        信息工程学院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371600" y="4370832"/>
            <a:ext cx="64008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9A0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年 10 月</a:t>
            </a:r>
            <a:endParaRPr lang="en-US" sz="105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508760"/>
            <a:ext cx="82296" cy="1371600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1051560" y="1463040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kern="0" spc="250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目 录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069848" y="239572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B886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977640" y="749808"/>
            <a:ext cx="4663440" cy="676656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01   </a:t>
            </a:r>
            <a:r>
              <a:rPr lang="en-US" sz="1700" b="1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项目简介</a:t>
            </a:r>
            <a:r>
              <a:rPr lang="en-US" sz="10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功能架构 · 软件展示 · 衍生品 · 创新点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977640" y="1554480"/>
            <a:ext cx="4663440" cy="676656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02   </a:t>
            </a:r>
            <a:r>
              <a:rPr lang="en-US" sz="1700" b="1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社会可行性分析</a:t>
            </a:r>
            <a:r>
              <a:rPr lang="en-US" sz="10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谷子经济 · 文旅数据 · 线性回归预测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977640" y="2359152"/>
            <a:ext cx="4663440" cy="676656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   </a:t>
            </a:r>
            <a:r>
              <a:rPr lang="en-US" sz="1700" b="1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技术可行性分析</a:t>
            </a:r>
            <a:r>
              <a:rPr lang="en-US" sz="10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技术栈 · 分层架构 · 算法与软著基础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977640" y="3163824"/>
            <a:ext cx="4663440" cy="676656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04   </a:t>
            </a:r>
            <a:r>
              <a:rPr lang="en-US" sz="1700" b="1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经济可行性分析</a:t>
            </a:r>
            <a:r>
              <a:rPr lang="en-US" sz="10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经费预算 · 成本控制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977640" y="3968496"/>
            <a:ext cx="4663440" cy="676656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05   </a:t>
            </a:r>
            <a:r>
              <a:rPr lang="en-US" sz="1700" b="1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未来计划</a:t>
            </a:r>
            <a:r>
              <a:rPr lang="en-US" sz="10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八周甘特图 · 阶段目标</a:t>
            </a:r>
            <a:endParaRPr lang="en-US" sz="19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11480" y="457200"/>
            <a:ext cx="64008" cy="47548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928" y="384048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86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项目简介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03504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kern="0" spc="150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系统功能：一站式西夏文化创作平台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0" y="475488"/>
            <a:ext cx="128016" cy="128016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0" y="475488"/>
            <a:ext cx="128016" cy="128016"/>
          </a:xfrm>
          <a:prstGeom prst="rect">
            <a:avLst/>
          </a:prstGeom>
          <a:solidFill>
            <a:srgbClr val="C9A05C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595360" y="475488"/>
            <a:ext cx="128016" cy="128016"/>
          </a:xfrm>
          <a:prstGeom prst="rect">
            <a:avLst/>
          </a:prstGeom>
          <a:solidFill>
            <a:srgbClr val="4F6B5C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11480" y="1115568"/>
            <a:ext cx="1591056" cy="1207008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创作工作台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一键西夏风格迁移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壁画智能修补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093976" y="1115568"/>
            <a:ext cx="1591056" cy="1207008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文创工坊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纹样上传与应用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五类文创产品生成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776472" y="1115568"/>
            <a:ext cx="1591056" cy="1207008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西夏知库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本地文化知识库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Coze 智能体答疑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58968" y="1115568"/>
            <a:ext cx="1591056" cy="1207008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交流论坛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发帖 · 浏览 · 回复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作品展示与讨论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41464" y="1115568"/>
            <a:ext cx="1591056" cy="1207008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我的记录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处理结果归档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历史随时回看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" y="243230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系统运行流程：登录 → 侧边栏导航 → 各功能页 → 本地归档</a:t>
            </a:r>
            <a:endParaRPr lang="en-US" sz="1000" dirty="0"/>
          </a:p>
        </p:txBody>
      </p:sp>
      <p:pic>
        <p:nvPicPr>
          <p:cNvPr id="15" name="Image 0" descr="ppt_assets/system_flow_1979x117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2959" y="2724912"/>
            <a:ext cx="3438082" cy="20482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1480" y="48463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基于风格迁移的西夏文化衍生品开发系统 · 宁夏大学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863840" y="484632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11</a:t>
            </a: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/>
            </a:r>
            <a:endParaRPr lang="en-US" sz="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11480" y="457200"/>
            <a:ext cx="64008" cy="47548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928" y="384048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86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项目简介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03504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kern="0" spc="150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软件展示：深色古卷风 · 塞上密卷 v2.0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0" y="475488"/>
            <a:ext cx="128016" cy="128016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0" y="475488"/>
            <a:ext cx="128016" cy="128016"/>
          </a:xfrm>
          <a:prstGeom prst="rect">
            <a:avLst/>
          </a:prstGeom>
          <a:solidFill>
            <a:srgbClr val="C9A05C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595360" y="475488"/>
            <a:ext cx="128016" cy="128016"/>
          </a:xfrm>
          <a:prstGeom prst="rect">
            <a:avLst/>
          </a:prstGeom>
          <a:solidFill>
            <a:srgbClr val="4F6B5C"/>
          </a:solidFill>
        </p:spPr>
        <p:txBody>
          <a:bodyPr/>
          <a:p/>
        </p:txBody>
      </p:sp>
      <p:pic>
        <p:nvPicPr>
          <p:cNvPr id="9" name="Image 0" descr="ppt_assets/exe_icon_206x5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454" y="402336"/>
            <a:ext cx="1412748" cy="384048"/>
          </a:xfrm>
          <a:prstGeom prst="rect">
            <a:avLst/>
          </a:prstGeom>
        </p:spPr>
      </p:pic>
      <p:pic>
        <p:nvPicPr>
          <p:cNvPr id="10" name="Image 1" descr="ppt_assets/ui_login_926x11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71" y="1133856"/>
            <a:ext cx="2521578" cy="32186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4389120"/>
            <a:ext cx="26060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 / 注册界面 —— QSS 定制深色古卷审美</a:t>
            </a:r>
            <a:endParaRPr lang="en-US" sz="900" dirty="0"/>
          </a:p>
        </p:txBody>
      </p:sp>
      <p:pic>
        <p:nvPicPr>
          <p:cNvPr id="12" name="Image 2" descr="ppt_assets/ui_main_2562x16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792" y="1133856"/>
            <a:ext cx="4862193" cy="32186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01568" y="4389120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创作工作台 —— 上传图片 · 一键迁移 · 原图/结果对比 · 下载归档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411480" y="48463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基于风格迁移的西夏文化衍生品开发系统 · 宁夏大学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7863840" y="484632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11</a:t>
            </a: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/>
            </a:r>
            <a:endParaRPr lang="en-US" sz="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895" y="281940"/>
            <a:ext cx="704850" cy="7239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11480" y="457200"/>
            <a:ext cx="64008" cy="47548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928" y="384048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86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项目简介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03504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kern="0" spc="150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核心效果：迁移 · 修补 · 修复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0" y="475488"/>
            <a:ext cx="128016" cy="128016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0" y="475488"/>
            <a:ext cx="128016" cy="128016"/>
          </a:xfrm>
          <a:prstGeom prst="rect">
            <a:avLst/>
          </a:prstGeom>
          <a:solidFill>
            <a:srgbClr val="C9A05C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595360" y="475488"/>
            <a:ext cx="128016" cy="128016"/>
          </a:xfrm>
          <a:prstGeom prst="rect">
            <a:avLst/>
          </a:prstGeom>
          <a:solidFill>
            <a:srgbClr val="4F6B5C"/>
          </a:solidFill>
        </p:spPr>
        <p:txBody>
          <a:bodyPr/>
          <a:p/>
        </p:txBody>
      </p:sp>
      <p:pic>
        <p:nvPicPr>
          <p:cNvPr id="9" name="Image 0" descr="ppt_assets/style_transfer_1387x72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832" y="1097280"/>
            <a:ext cx="3031311" cy="1591056"/>
          </a:xfrm>
          <a:prstGeom prst="rect">
            <a:avLst/>
          </a:prstGeom>
        </p:spPr>
      </p:pic>
      <p:pic>
        <p:nvPicPr>
          <p:cNvPr id="10" name="Image 1" descr="ppt_assets/mural_inpaint_1354x7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016" y="1097280"/>
            <a:ext cx="3012993" cy="15910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272491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风格迁移：头像 → 西夏壁画风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828032" y="272491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壁画修补：真实破损 → Telea 修复</a:t>
            </a:r>
            <a:endParaRPr lang="en-US" sz="900" dirty="0"/>
          </a:p>
        </p:txBody>
      </p:sp>
      <p:pic>
        <p:nvPicPr>
          <p:cNvPr id="13" name="Image 2" descr="ppt_assets/painting_restore_1715x7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865" y="3017520"/>
            <a:ext cx="3282271" cy="14813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88920" y="4535424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古画修复：破损修补 + 西夏暖色调上色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411480" y="48463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基于风格迁移的西夏文化衍生品开发系统 · 宁夏大学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7863840" y="484632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11</a:t>
            </a: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/>
            </a:r>
            <a:endParaRPr lang="en-US" sz="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11480" y="457200"/>
            <a:ext cx="64008" cy="47548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928" y="384048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86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· 项目简介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03504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kern="0" spc="150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衍生品展示：西夏纹样文创矩阵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0" y="475488"/>
            <a:ext cx="128016" cy="128016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0" y="475488"/>
            <a:ext cx="128016" cy="128016"/>
          </a:xfrm>
          <a:prstGeom prst="rect">
            <a:avLst/>
          </a:prstGeom>
          <a:solidFill>
            <a:srgbClr val="C9A05C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595360" y="475488"/>
            <a:ext cx="128016" cy="128016"/>
          </a:xfrm>
          <a:prstGeom prst="rect">
            <a:avLst/>
          </a:prstGeom>
          <a:solidFill>
            <a:srgbClr val="4F6B5C"/>
          </a:solidFill>
        </p:spPr>
        <p:txBody>
          <a:bodyPr/>
          <a:p/>
        </p:txBody>
      </p:sp>
      <p:pic>
        <p:nvPicPr>
          <p:cNvPr id="9" name="Image 0" descr="ppt_assets/costume_pattern_910x87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822" y="1042416"/>
            <a:ext cx="3378037" cy="3236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334256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西夏服饰纹样数字化设计</a:t>
            </a:r>
            <a:endParaRPr lang="en-US" sz="950" dirty="0"/>
          </a:p>
        </p:txBody>
      </p:sp>
      <p:pic>
        <p:nvPicPr>
          <p:cNvPr id="11" name="Image 1" descr="ppt_assets/product_bag_832x5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702" y="1042416"/>
            <a:ext cx="2035892" cy="1389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41648" y="2450592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帆布包</a:t>
            </a:r>
            <a:endParaRPr lang="en-US" sz="950" dirty="0"/>
          </a:p>
        </p:txBody>
      </p:sp>
      <p:pic>
        <p:nvPicPr>
          <p:cNvPr id="13" name="Image 2" descr="ppt_assets/product_tshirt_830x4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084611"/>
            <a:ext cx="2286000" cy="13054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37376" y="2450592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 恤</a:t>
            </a:r>
            <a:endParaRPr lang="en-US" sz="950" dirty="0"/>
          </a:p>
        </p:txBody>
      </p:sp>
      <p:pic>
        <p:nvPicPr>
          <p:cNvPr id="15" name="Image 3" descr="ppt_assets/product_pouch_832x4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2803449"/>
            <a:ext cx="2286000" cy="126938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041648" y="415137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束口袋</a:t>
            </a:r>
            <a:endParaRPr lang="en-US" sz="950" dirty="0"/>
          </a:p>
        </p:txBody>
      </p:sp>
      <p:pic>
        <p:nvPicPr>
          <p:cNvPr id="17" name="Image 4" descr="ppt_assets/product_postcard_806x5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40" y="2743200"/>
            <a:ext cx="2146072" cy="13898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37376" y="415137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明信片</a:t>
            </a:r>
            <a:endParaRPr lang="en-US" sz="950" dirty="0"/>
          </a:p>
        </p:txBody>
      </p:sp>
      <p:sp>
        <p:nvSpPr>
          <p:cNvPr id="19" name="Text 11"/>
          <p:cNvSpPr/>
          <p:nvPr/>
        </p:nvSpPr>
        <p:spPr>
          <a:xfrm>
            <a:off x="411480" y="48463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基于风格迁移的西夏文化衍生品开发系统 · 宁夏大学</a:t>
            </a:r>
            <a:endParaRPr lang="en-US" sz="800" dirty="0"/>
          </a:p>
        </p:txBody>
      </p:sp>
      <p:sp>
        <p:nvSpPr>
          <p:cNvPr id="20" name="Text 12"/>
          <p:cNvSpPr/>
          <p:nvPr/>
        </p:nvSpPr>
        <p:spPr>
          <a:xfrm>
            <a:off x="7863840" y="484632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11</a:t>
            </a: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/>
            </a:r>
            <a:endParaRPr lang="en-US" sz="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11480" y="457200"/>
            <a:ext cx="64008" cy="47548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928" y="384048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86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社会可行性分析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03504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kern="0" spc="150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谷子经济盛行，文旅消费快速上升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0" y="475488"/>
            <a:ext cx="128016" cy="128016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0" y="475488"/>
            <a:ext cx="128016" cy="128016"/>
          </a:xfrm>
          <a:prstGeom prst="rect">
            <a:avLst/>
          </a:prstGeom>
          <a:solidFill>
            <a:srgbClr val="C9A05C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595360" y="475488"/>
            <a:ext cx="128016" cy="128016"/>
          </a:xfrm>
          <a:prstGeom prst="rect">
            <a:avLst/>
          </a:prstGeom>
          <a:solidFill>
            <a:srgbClr val="4F6B5C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11480" y="1115568"/>
            <a:ext cx="3931920" cy="1810512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「谷子」经济正当其时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「谷子」（Goods 音译）消费持续走热，年轻群体愿意为文化 IP 周边买单；西夏纹样衍生品天然契合谷子消费场景，受众基础坚实。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政策加持：2022 年中办、国办印发《关于推进实施国家文化数字化战略的意见》，明确推动传统文化创造性转化。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3072384"/>
          <a:ext cx="3931920" cy="1536192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146304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2E8D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年份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3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2E8D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接待国内游客（万人次）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3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2E8D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国内旅游收入（亿元）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3A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3429.54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199.06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3622.51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286.38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3882.48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304.28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7004.11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651.45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2024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8124.96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211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766.45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617720" y="1115568"/>
            <a:ext cx="4114800" cy="1042416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24.06%</a:t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国内游客量 年均复合增长率（2020–2024）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4617720" y="2286000"/>
            <a:ext cx="4114800" cy="1042416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862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40.08%</a:t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国内旅游收入 年均复合增长率（2020–2024）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4617720" y="3474720"/>
            <a:ext cx="4114800" cy="822960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63A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</a:t>
            </a:r>
            <a:r>
              <a:rPr lang="en-US" sz="110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文旅消费处于快速上升通道，「文化 + 科技」衍生品具备明确的社会需求与市场增量。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11480" y="48463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基于风格迁移的西夏文化衍生品开发系统 · 宁夏大学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863840" y="484632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11</a:t>
            </a: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/>
            </a:r>
            <a:endParaRPr lang="en-US" sz="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11480" y="457200"/>
            <a:ext cx="64008" cy="47548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928" y="384048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86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社会可行性分析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03504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kern="0" spc="150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线性回归建模：预测未来三年走势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0" y="475488"/>
            <a:ext cx="128016" cy="128016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0" y="475488"/>
            <a:ext cx="128016" cy="128016"/>
          </a:xfrm>
          <a:prstGeom prst="rect">
            <a:avLst/>
          </a:prstGeom>
          <a:solidFill>
            <a:srgbClr val="C9A05C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595360" y="475488"/>
            <a:ext cx="128016" cy="128016"/>
          </a:xfrm>
          <a:prstGeom prst="rect">
            <a:avLst/>
          </a:prstGeom>
          <a:solidFill>
            <a:srgbClr val="4F6B5C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11480" y="1133856"/>
            <a:ext cx="3749040" cy="310896"/>
          </a:xfrm>
          <a:prstGeom prst="rect">
            <a:avLst/>
          </a:prstGeom>
          <a:solidFill>
            <a:srgbClr val="7A5C3E"/>
          </a:solidFill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8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回归模型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1444752"/>
            <a:ext cx="3749040" cy="3145536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 t = 年份 − 2020 为自变量，游客量 y（万人次）为因变量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y = 2658.23 + 1277.24 t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886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拟合优度 R² = 0.851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趋势外推（2025–2027）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游客量：9044.5 万 → 10321.7 万 → 11598.9 万人次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旅游收入：891.5 亿 → 1041.5 亿 → 1191.4 亿元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2025 收入三情景：保守 909.3 · 中性 927.2 · 乐观 945.0（亿元）</a:t>
            </a:r>
            <a:endParaRPr lang="en-US" sz="950" dirty="0"/>
          </a:p>
        </p:txBody>
      </p:sp>
      <p:pic>
        <p:nvPicPr>
          <p:cNvPr id="11" name="Image 0" descr="ppt_assets/tourism_trend_1422x84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181312"/>
            <a:ext cx="4297680" cy="25568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3822192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宁夏国内旅游人次趋势与预测（线性回归，R² = 0.851）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434840" y="4096512"/>
            <a:ext cx="4297680" cy="512064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63A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洞察：</a:t>
            </a:r>
            <a:r>
              <a:rPr lang="en-US" sz="10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模型拟合良好，2027 年游客量有望突破 1.15 亿人次 —— 市场增量明确（预测需落地后以真实数据验证）。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11480" y="48463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基于风格迁移的西夏文化衍生品开发系统 · 宁夏大学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863840" y="484632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11</a:t>
            </a: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/>
            </a:r>
            <a:endParaRPr lang="en-US" sz="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11480" y="457200"/>
            <a:ext cx="64008" cy="47548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928" y="384048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86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技术可行性分析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03504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kern="0" spc="150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技术可行性：成熟技术栈 + 分层架构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0" y="475488"/>
            <a:ext cx="128016" cy="128016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0" y="475488"/>
            <a:ext cx="128016" cy="128016"/>
          </a:xfrm>
          <a:prstGeom prst="rect">
            <a:avLst/>
          </a:prstGeom>
          <a:solidFill>
            <a:srgbClr val="C9A05C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595360" y="475488"/>
            <a:ext cx="128016" cy="128016"/>
          </a:xfrm>
          <a:prstGeom prst="rect">
            <a:avLst/>
          </a:prstGeom>
          <a:solidFill>
            <a:srgbClr val="4F6B5C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11480" y="1115568"/>
            <a:ext cx="1316736" cy="402336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3.10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10512" y="1115568"/>
            <a:ext cx="1316736" cy="402336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PySide6 · QSS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09544" y="1115568"/>
            <a:ext cx="1316736" cy="402336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OpenCV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608576" y="1115568"/>
            <a:ext cx="1316736" cy="402336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NumPy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07608" y="1115568"/>
            <a:ext cx="1316736" cy="402336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06640" y="1115568"/>
            <a:ext cx="1316736" cy="402336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Coze 智能体</a:t>
            </a:r>
            <a:endParaRPr lang="en-US" sz="1050" dirty="0"/>
          </a:p>
        </p:txBody>
      </p:sp>
      <p:pic>
        <p:nvPicPr>
          <p:cNvPr id="15" name="Image 0" descr="ppt_assets/system_arch_1979x134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71532"/>
            <a:ext cx="4434840" cy="30028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74920" y="1664208"/>
            <a:ext cx="3657600" cy="621792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表现层  </a:t>
            </a:r>
            <a:r>
              <a:rPr lang="en-US" sz="9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 / 五大功能页 · 侧边栏导航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74920" y="2377440"/>
            <a:ext cx="3657600" cy="621792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业务逻辑层  </a:t>
            </a:r>
            <a:r>
              <a:rPr lang="en-US" sz="9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迁移调度 · 修补 · 文创合成 · 问答 · 论坛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74920" y="3090672"/>
            <a:ext cx="3657600" cy="621792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算法层  </a:t>
            </a:r>
            <a:r>
              <a:rPr lang="en-US" sz="9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Reinhard 色彩迁移 · Telea 修复 · 纹样合成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074920" y="3803904"/>
            <a:ext cx="3657600" cy="621792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数据层  </a:t>
            </a:r>
            <a:r>
              <a:rPr lang="en-US" sz="9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数据库 + 本地文件系统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78730" y="4535424"/>
            <a:ext cx="3657600" cy="384048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A63A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性能指标：</a:t>
            </a:r>
            <a:r>
              <a:rPr lang="en-US" sz="100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风格迁移 &lt; 5s · 壁画修补 &lt; 10s · 文创生成 &lt; 5s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11480" y="48463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基于风格迁移的西夏文化衍生品开发系统 · 宁夏大学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7863840" y="484632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11</a:t>
            </a: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/>
            </a:r>
            <a:endParaRPr lang="en-US" sz="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11480" y="457200"/>
            <a:ext cx="64008" cy="47548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928" y="384048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86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技术可行性分析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03504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kern="0" spc="150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核心算法可靠，前期成果扎实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0" y="475488"/>
            <a:ext cx="128016" cy="128016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0" y="475488"/>
            <a:ext cx="128016" cy="128016"/>
          </a:xfrm>
          <a:prstGeom prst="rect">
            <a:avLst/>
          </a:prstGeom>
          <a:solidFill>
            <a:srgbClr val="C9A05C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595360" y="475488"/>
            <a:ext cx="128016" cy="128016"/>
          </a:xfrm>
          <a:prstGeom prst="rect">
            <a:avLst/>
          </a:prstGeom>
          <a:solidFill>
            <a:srgbClr val="4F6B5C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11480" y="1115568"/>
            <a:ext cx="8321040" cy="566928"/>
          </a:xfrm>
          <a:prstGeom prst="rect">
            <a:avLst/>
          </a:prstGeom>
          <a:solidFill>
            <a:srgbClr val="8C2F22"/>
          </a:solidFill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E8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前期基础 · 已获软件著作权  </a:t>
            </a:r>
            <a:r>
              <a:rPr lang="en-US" sz="1250" b="1" dirty="0">
                <a:solidFill>
                  <a:srgbClr val="C9A0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《基于图像处理的西夏壁画渲染系统》</a:t>
            </a:r>
            <a:r>
              <a:rPr lang="en-US" sz="1000" dirty="0">
                <a:solidFill>
                  <a:srgbClr val="F2E8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—— 团队已跑通图像处理渲染链路，技术风险可控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11480" y="1828800"/>
            <a:ext cx="1975104" cy="1170432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Reinhard 色彩迁移</a:t>
            </a: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空间逐通道匹配均值与标准差，输出壁画色调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14600" y="1828800"/>
            <a:ext cx="1975104" cy="1170432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纹理注入</a:t>
            </a: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高频纹理分量按权重叠加，模拟笔触与颗粒感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617720" y="1828800"/>
            <a:ext cx="1975104" cy="1170432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Telea 壁画修补</a:t>
            </a: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快速行进法由外向内传播，补全破损区域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720840" y="1828800"/>
            <a:ext cx="1975104" cy="1170432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CLAHE 古旧化</a:t>
            </a: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自适应均衡恢复对比度，噪点暗角增强斑驳感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480" y="3145536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智能问答工作流（Coze 平台）</a:t>
            </a:r>
            <a:endParaRPr lang="en-US" sz="1050" dirty="0"/>
          </a:p>
        </p:txBody>
      </p:sp>
      <p:pic>
        <p:nvPicPr>
          <p:cNvPr id="15" name="Image 0" descr="ppt_assets/coze_workflow_2371x8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600" y="3401568"/>
            <a:ext cx="3719681" cy="12801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3145536"/>
            <a:ext cx="4160520" cy="1536192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意图识别 → 路由选择 → 知识库检索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7A5C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喂入西夏历史、文字、壁画、服饰知识库；文化相关问题由大模型结合知识库作答并联网搜索兜底，无关问题友好引导 —— 有效降低大模型调用成本。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11480" y="48463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基于风格迁移的西夏文化衍生品开发系统 · 宁夏大学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867650" y="484632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411480" y="1188720"/>
          <a:ext cx="34290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Shape 0"/>
          <p:cNvSpPr/>
          <p:nvPr/>
        </p:nvSpPr>
        <p:spPr>
          <a:xfrm>
            <a:off x="411480" y="457200"/>
            <a:ext cx="64008" cy="47548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566928" y="384048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86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经济可行性分析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566928" y="603504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kern="0" spc="150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经济可行性：总预算一万元，轻量可控</a:t>
            </a:r>
            <a:endParaRPr lang="en-US" sz="2300" dirty="0"/>
          </a:p>
        </p:txBody>
      </p:sp>
      <p:sp>
        <p:nvSpPr>
          <p:cNvPr id="7" name="Shape 3"/>
          <p:cNvSpPr/>
          <p:nvPr/>
        </p:nvSpPr>
        <p:spPr>
          <a:xfrm>
            <a:off x="8229600" y="475488"/>
            <a:ext cx="128016" cy="128016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8412480" y="475488"/>
            <a:ext cx="128016" cy="128016"/>
          </a:xfrm>
          <a:prstGeom prst="rect">
            <a:avLst/>
          </a:prstGeom>
          <a:solidFill>
            <a:srgbClr val="C9A05C"/>
          </a:solidFill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595360" y="475488"/>
            <a:ext cx="128016" cy="128016"/>
          </a:xfrm>
          <a:prstGeom prst="rect">
            <a:avLst/>
          </a:prstGeom>
          <a:solidFill>
            <a:srgbClr val="4F6B5C"/>
          </a:solidFill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4114800" y="1188720"/>
            <a:ext cx="4617720" cy="640080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总预算  </a:t>
            </a:r>
            <a:r>
              <a:rPr lang="en-US" sz="26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¥10,000</a:t>
            </a:r>
            <a:r>
              <a:rPr lang="en-US" sz="120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元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0" y="1993392"/>
            <a:ext cx="4617720" cy="548640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设备与材料费  </a:t>
            </a:r>
            <a:r>
              <a:rPr lang="en-US" sz="115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¥5,900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开发工具与耗材 · 服务器租赁与 API 调用 · NVIDIA T4 GPU 云 · 软件维护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114800" y="2615184"/>
            <a:ext cx="4617720" cy="548640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调研和实践费  </a:t>
            </a:r>
            <a:r>
              <a:rPr lang="en-US" sz="115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¥2,600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文献资料与数据库 · 试点调研与推广 · 实地考察与数据采集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114800" y="3236976"/>
            <a:ext cx="4617720" cy="548640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基础运营费  </a:t>
            </a:r>
            <a:r>
              <a:rPr lang="en-US" sz="115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¥1,000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日常系统运转、维护与优化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114800" y="3858768"/>
            <a:ext cx="4617720" cy="548640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应急备用金  </a:t>
            </a:r>
            <a:r>
              <a:rPr lang="en-US" sz="115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¥500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设备紧急维护 · 临时调研补充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114800" y="4517136"/>
            <a:ext cx="4617720" cy="365760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A63A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成本控制：</a:t>
            </a:r>
            <a:r>
              <a:rPr lang="en-US" sz="100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 CPU 离线运行、开源技术栈为主，无持续算力与授权成本，边际成本低。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11480" y="48463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基于风格迁移的西夏文化衍生品开发系统 · 宁夏大学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863840" y="484632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11480" y="457200"/>
            <a:ext cx="64008" cy="47548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928" y="384048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86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· 未来计划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603504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kern="0" spc="150" dirty="0">
                <a:solidFill>
                  <a:srgbClr val="2E211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未来计划：八周五阶段推进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0" y="475488"/>
            <a:ext cx="128016" cy="128016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0" y="475488"/>
            <a:ext cx="128016" cy="128016"/>
          </a:xfrm>
          <a:prstGeom prst="rect">
            <a:avLst/>
          </a:prstGeom>
          <a:solidFill>
            <a:srgbClr val="C9A05C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595360" y="475488"/>
            <a:ext cx="128016" cy="128016"/>
          </a:xfrm>
          <a:prstGeom prst="rect">
            <a:avLst/>
          </a:prstGeom>
          <a:solidFill>
            <a:srgbClr val="4F6B5C"/>
          </a:solidFill>
        </p:spPr>
        <p:txBody>
          <a:bodyPr/>
          <a:p/>
        </p:txBody>
      </p:sp>
      <p:pic>
        <p:nvPicPr>
          <p:cNvPr id="9" name="Image 0" descr="ppt_assets/gantt_1779x94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54313"/>
            <a:ext cx="5806440" cy="30680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46520" y="1152144"/>
            <a:ext cx="2286000" cy="548640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第 1–2 周  </a:t>
            </a:r>
            <a:r>
              <a:rPr lang="en-US" sz="9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需求调研与原型设计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46520" y="1773936"/>
            <a:ext cx="2286000" cy="548640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第 3–5 周  </a:t>
            </a:r>
            <a:r>
              <a:rPr lang="en-US" sz="9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风格迁移与修补算法开发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46520" y="2395728"/>
            <a:ext cx="2286000" cy="548640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第 4–6 周  </a:t>
            </a:r>
            <a:r>
              <a:rPr lang="en-US" sz="9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文创工坊与衍生合成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46520" y="3017520"/>
            <a:ext cx="2286000" cy="548640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第 5–6 周  </a:t>
            </a:r>
            <a:r>
              <a:rPr lang="en-US" sz="9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西夏知库与交流论坛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46520" y="3639312"/>
            <a:ext cx="2286000" cy="548640"/>
          </a:xfrm>
          <a:prstGeom prst="rect">
            <a:avLst/>
          </a:prstGeom>
          <a:solidFill>
            <a:srgbClr val="FBF6EA"/>
          </a:solidFill>
          <a:ln w="9525">
            <a:solidFill>
              <a:srgbClr val="DCCBA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63A2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第 7–8 周  </a:t>
            </a:r>
            <a:r>
              <a:rPr lang="en-US" sz="9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系统集成 · 测试 · 文档撰写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63A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阶段目标：</a:t>
            </a:r>
            <a:r>
              <a:rPr lang="en-US" sz="1050" dirty="0">
                <a:solidFill>
                  <a:srgbClr val="2E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形成可运行、可演示、可交付的桌面软件系统，完成结题并申请相关论文。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11480" y="48463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基于风格迁移的西夏文化衍生品开发系统 · 宁夏大学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863840" y="484632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C7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56032" y="256032"/>
            <a:ext cx="8631936" cy="4626864"/>
          </a:xfrm>
          <a:prstGeom prst="rect">
            <a:avLst/>
          </a:prstGeom>
          <a:ln w="19050">
            <a:solidFill>
              <a:srgbClr val="C9A05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47472" y="347472"/>
            <a:ext cx="8449056" cy="4443984"/>
          </a:xfrm>
          <a:prstGeom prst="rect">
            <a:avLst/>
          </a:prstGeom>
          <a:ln w="9525">
            <a:solidFill>
              <a:srgbClr val="7A5C3E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371600" y="1828800"/>
            <a:ext cx="6400800" cy="8686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kern="0" spc="250" dirty="0">
                <a:solidFill>
                  <a:srgbClr val="F2E8D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谢谢聆听 · 恳请批评指正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 rot="2700000">
            <a:off x="4407408" y="2871216"/>
            <a:ext cx="109728" cy="10972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 rot="2700000">
            <a:off x="4626864" y="2871216"/>
            <a:ext cx="109728" cy="109728"/>
          </a:xfrm>
          <a:prstGeom prst="rect">
            <a:avLst/>
          </a:prstGeom>
          <a:solidFill>
            <a:srgbClr val="C9A05C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 rot="2700000">
            <a:off x="4846320" y="2871216"/>
            <a:ext cx="109728" cy="109728"/>
          </a:xfrm>
          <a:prstGeom prst="rect">
            <a:avLst/>
          </a:prstGeom>
          <a:solidFill>
            <a:srgbClr val="A63A2A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3200400"/>
            <a:ext cx="64008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C9A0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基于风格迁移的西夏文化衍生品开发系统 ·「塞上密卷」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3611880"/>
            <a:ext cx="64008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2E8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汇报人：林奕淞    指导教师：马子睿</a:t>
            </a:r>
            <a:endParaRPr lang="en-US" sz="11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64008" cy="475488"/>
          </a:xfrm>
          <a:prstGeom prst="rect">
            <a:avLst/>
          </a:prstGeom>
          <a:solidFill>
            <a:srgbClr val="A6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00">
                <a:solidFill>
                  <a:srgbClr val="B8862F"/>
                </a:solidFill>
                <a:latin typeface="微软雅黑"/>
                <a:ea typeface="微软雅黑"/>
                <a:cs typeface="微软雅黑"/>
              </a:rPr>
              <a:t>01 · 项目简介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 spc="150">
                <a:solidFill>
                  <a:srgbClr val="2E2118"/>
                </a:solidFill>
                <a:latin typeface="宋体"/>
                <a:ea typeface="宋体"/>
                <a:cs typeface="宋体"/>
              </a:rPr>
              <a:t>核心原理：风格迁移是什么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475488"/>
            <a:ext cx="128016" cy="128016"/>
          </a:xfrm>
          <a:prstGeom prst="rect">
            <a:avLst/>
          </a:prstGeom>
          <a:solidFill>
            <a:srgbClr val="A6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0" y="475488"/>
            <a:ext cx="128016" cy="128016"/>
          </a:xfrm>
          <a:prstGeom prst="rect">
            <a:avLst/>
          </a:prstGeom>
          <a:solidFill>
            <a:srgbClr val="C9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95360" y="475488"/>
            <a:ext cx="128016" cy="128016"/>
          </a:xfrm>
          <a:prstGeom prst="rect">
            <a:avLst/>
          </a:prstGeom>
          <a:solidFill>
            <a:srgbClr val="4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" y="1261872"/>
            <a:ext cx="2395728" cy="2834640"/>
          </a:xfrm>
          <a:prstGeom prst="rect">
            <a:avLst/>
          </a:prstGeom>
          <a:solidFill>
            <a:srgbClr val="FBF6EA"/>
          </a:solidFill>
          <a:ln w="12700">
            <a:solidFill>
              <a:srgbClr val="DCC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1426463"/>
            <a:ext cx="2066544" cy="2066544"/>
          </a:xfrm>
          <a:prstGeom prst="rect">
            <a:avLst/>
          </a:prstGeom>
          <a:solidFill>
            <a:srgbClr val="FFFFFF"/>
          </a:solidFill>
          <a:ln w="6350">
            <a:solidFill>
              <a:srgbClr val="DCC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大写_内容_510x5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66948"/>
            <a:ext cx="1993392" cy="19855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3547872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A5C3E"/>
                </a:solidFill>
                <a:latin typeface="微软雅黑"/>
                <a:ea typeface="微软雅黑"/>
                <a:cs typeface="微软雅黑"/>
              </a:rPr>
              <a:t>内容图 · 大笑.jpg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261872"/>
            <a:ext cx="2395728" cy="2834640"/>
          </a:xfrm>
          <a:prstGeom prst="rect">
            <a:avLst/>
          </a:prstGeom>
          <a:solidFill>
            <a:srgbClr val="FBF6EA"/>
          </a:solidFill>
          <a:ln w="12700">
            <a:solidFill>
              <a:srgbClr val="DCC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8728" y="1426463"/>
            <a:ext cx="2066544" cy="2066544"/>
          </a:xfrm>
          <a:prstGeom prst="rect">
            <a:avLst/>
          </a:prstGeom>
          <a:solidFill>
            <a:srgbClr val="FFFFFF"/>
          </a:solidFill>
          <a:ln w="6350">
            <a:solidFill>
              <a:srgbClr val="DCC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奶龙_风格_400x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1463039"/>
            <a:ext cx="1993392" cy="19933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11296" y="3547872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A5C3E"/>
                </a:solidFill>
                <a:latin typeface="微软雅黑"/>
                <a:ea typeface="微软雅黑"/>
                <a:cs typeface="微软雅黑"/>
              </a:rPr>
              <a:t>风格图 · 奶龙.jpg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1928" y="1261872"/>
            <a:ext cx="2395728" cy="2834640"/>
          </a:xfrm>
          <a:prstGeom prst="rect">
            <a:avLst/>
          </a:prstGeom>
          <a:solidFill>
            <a:srgbClr val="FBF6EA"/>
          </a:solidFill>
          <a:ln w="22225">
            <a:solidFill>
              <a:srgbClr val="A6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426463"/>
            <a:ext cx="2066544" cy="2066544"/>
          </a:xfrm>
          <a:prstGeom prst="rect">
            <a:avLst/>
          </a:prstGeom>
          <a:solidFill>
            <a:srgbClr val="FFFFFF"/>
          </a:solidFill>
          <a:ln w="6350">
            <a:solidFill>
              <a:srgbClr val="DCC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大笑奶龙_结果_200x2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632" y="1463039"/>
            <a:ext cx="1854318" cy="1993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19088" y="3547872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A63A2A"/>
                </a:solidFill>
                <a:latin typeface="微软雅黑"/>
                <a:ea typeface="微软雅黑"/>
                <a:cs typeface="微软雅黑"/>
              </a:rPr>
              <a:t>生成结果 · 大笑奶龙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62656" y="2304288"/>
            <a:ext cx="310896" cy="310896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3042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63A2A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0448" y="2304288"/>
            <a:ext cx="310896" cy="310896"/>
          </a:xfrm>
          <a:prstGeom prst="rect">
            <a:avLst/>
          </a:prstGeom>
          <a:solidFill>
            <a:srgbClr val="F0E6CE"/>
          </a:solidFill>
          <a:ln w="9525">
            <a:solidFill>
              <a:srgbClr val="C9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0448" y="23042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63A2A"/>
                </a:solidFill>
                <a:latin typeface="微软雅黑"/>
                <a:ea typeface="微软雅黑"/>
                <a:cs typeface="微软雅黑"/>
              </a:rPr>
              <a:t>=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" y="4279392"/>
            <a:ext cx="8211312" cy="402336"/>
          </a:xfrm>
          <a:prstGeom prst="rect">
            <a:avLst/>
          </a:prstGeom>
          <a:solidFill>
            <a:srgbClr val="F0E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" y="4279392"/>
            <a:ext cx="54864" cy="402336"/>
          </a:xfrm>
          <a:prstGeom prst="rect">
            <a:avLst/>
          </a:prstGeom>
          <a:solidFill>
            <a:srgbClr val="A6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279392"/>
            <a:ext cx="7863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7A5C3E"/>
                </a:solidFill>
                <a:latin typeface="微软雅黑"/>
                <a:ea typeface="微软雅黑"/>
                <a:cs typeface="微软雅黑"/>
              </a:rPr>
              <a:t>内容图决定「画什么」，风格图决定「怎么画」 —— 保留构图，替换笔触与色调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84632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C7A63"/>
                </a:solidFill>
                <a:latin typeface="微软雅黑"/>
                <a:ea typeface="微软雅黑"/>
                <a:cs typeface="微软雅黑"/>
              </a:rPr>
              <a:t>基于风格迁移的西夏文化衍生品开发系统 · 宁夏大学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84632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C7A63"/>
                </a:solidFill>
                <a:latin typeface="微软雅黑"/>
                <a:ea typeface="微软雅黑"/>
                <a:cs typeface="微软雅黑"/>
              </a:rPr>
              <a:t>3 / 11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2647</Words>
  <Application>WPS 演示</Application>
  <PresentationFormat>On-screen Show (16:9)</PresentationFormat>
  <Paragraphs>294</Paragraphs>
  <Slides>13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宋体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基于风格迁移的西夏文化衍生品开发系统 · 答辩</dc:title>
  <dc:creator>林奕淞</dc:creator>
  <dc:subject>PptxGenJS Presentation</dc:subject>
  <cp:lastModifiedBy>Orlando</cp:lastModifiedBy>
  <cp:revision>2</cp:revision>
  <dcterms:created xsi:type="dcterms:W3CDTF">2026-10-10T15:49:00Z</dcterms:created>
  <dcterms:modified xsi:type="dcterms:W3CDTF">2026-10-10T16:13:18Z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0206266DE8E44A28B3074C7B839DBD52_12</vt:lpwstr>
  </property>
</Properties>
</file>